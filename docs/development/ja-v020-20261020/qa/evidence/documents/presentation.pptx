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目的：必須情報の確認手順を説明する。実会場での投影は未確認。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図の順番は確認手順。製品の自動処理能力を表していない。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表は方法の範囲を比較。すべての環境での合格を示さない。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値4、3、2、1は作図を確認するための架空入力であり、実績や測定結果ではない。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注意枠はテキストの背景として先に配置。すべての必須情報は本文にも表示。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保護された文言は空白挿入や正規化を行わず保存。行の見え方を別に確認。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注記は本文に表示。スピーカーノートだけに必須条件を移していない。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このスライドは確認方針のまとめであり、リリース承認ではない。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架空講座の案内と運営確認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800" b="1" lang="ja-JP">
                <a:solidFill>
                  <a:srgbClr val="087F85"/>
                </a:solidFill>
                <a:latin typeface="Noto Sans CJK JP"/>
                <a:ea typeface="Noto Sans CJK JP"/>
              </a:rPr>
              <a:t>原稿・表示・実ホストを分けて確認する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2377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2026年11月3日／文字の広場（架空会場）</a:t>
            </a:r>
          </a:p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髙﨑さま／料金１,２００円／が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原稿から表示確認までの流れ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109728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500" b="1" lang="ja-JP">
                <a:solidFill>
                  <a:srgbClr val="183542"/>
                </a:solidFill>
                <a:latin typeface="Noto Sans CJK JP"/>
                <a:ea typeface="Noto Sans CJK JP"/>
              </a:rPr>
              <a:t>原稿の保存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11680"/>
            <a:ext cx="3017520" cy="109728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500" b="1" lang="ja-JP">
                <a:solidFill>
                  <a:srgbClr val="183542"/>
                </a:solidFill>
                <a:latin typeface="Noto Sans CJK JP"/>
                <a:ea typeface="Noto Sans CJK JP"/>
              </a:rPr>
              <a:t>表示の確認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017520" cy="109728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500" b="1" lang="ja-JP">
                <a:solidFill>
                  <a:srgbClr val="183542"/>
                </a:solidFill>
                <a:latin typeface="Noto Sans CJK JP"/>
                <a:ea typeface="Noto Sans CJK JP"/>
              </a:rPr>
              <a:t>条件の記録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148840"/>
            <a:ext cx="54864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800" b="0" lang="ja-JP">
                <a:solidFill>
                  <a:srgbClr val="183542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148840"/>
            <a:ext cx="54864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800" b="0" lang="ja-JP">
                <a:solidFill>
                  <a:srgbClr val="183542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抽出一致だけでは、図形の隠れや行の欠けを保証できません。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確認方法の比較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94560" cy="77724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08760"/>
            <a:ext cx="5029200" cy="77724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確認する範囲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08760"/>
            <a:ext cx="2834640" cy="77724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残る確認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19456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原稿照合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502920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文字と数値の保存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68880"/>
            <a:ext cx="283464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実表示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19456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画像確認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83280"/>
            <a:ext cx="502920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ページ・図表の見え方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83280"/>
            <a:ext cx="283464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実ホスト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219456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実機確認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297680"/>
            <a:ext cx="502920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対象アプリでの表示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97680"/>
            <a:ext cx="283464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実会場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架空の作業配分（比較用入力）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1031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原稿照合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54480"/>
            <a:ext cx="5852160" cy="594360"/>
          </a:xfrm>
          <a:prstGeom prst="rect">
            <a:avLst/>
          </a:prstGeom>
          <a:solidFill>
            <a:srgbClr val="087F85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7315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1031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表示確認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14600"/>
            <a:ext cx="4389120" cy="594360"/>
          </a:xfrm>
          <a:prstGeom prst="rect">
            <a:avLst/>
          </a:prstGeom>
          <a:solidFill>
            <a:srgbClr val="087F85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514600"/>
            <a:ext cx="7315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21031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台帳確認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20"/>
            <a:ext cx="2926080" cy="594360"/>
          </a:xfrm>
          <a:prstGeom prst="rect">
            <a:avLst/>
          </a:prstGeom>
          <a:solidFill>
            <a:srgbClr val="087F85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474720"/>
            <a:ext cx="7315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21031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引継ぎ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434840"/>
            <a:ext cx="1463040" cy="594360"/>
          </a:xfrm>
          <a:prstGeom prst="rect">
            <a:avLst/>
          </a:prstGeom>
          <a:solidFill>
            <a:srgbClr val="087F85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434840"/>
            <a:ext cx="7315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607040" cy="548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600" b="0" lang="ja-JP">
                <a:solidFill>
                  <a:srgbClr val="183542"/>
                </a:solidFill>
                <a:latin typeface="Noto Sans CJK JP"/>
                <a:ea typeface="Noto Sans CJK JP"/>
              </a:rPr>
              <a:t>単位：架空の作業単位。実施済み件数ではありません。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注意事項を図形で隠さない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1752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2468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400" b="1" lang="ja-JP">
                <a:solidFill>
                  <a:srgbClr val="183542"/>
                </a:solidFill>
                <a:latin typeface="Noto Sans CJK JP"/>
                <a:ea typeface="Noto Sans CJK JP"/>
              </a:rPr>
              <a:t>必須情報を注記や図形の背面に移動しない</a:t>
            </a:r>
          </a:p>
          <a:p>
            <a:pPr eaLnBrk="1" latinLnBrk="0">
              <a:spcAft>
                <a:spcPts val="1200"/>
              </a:spcAft>
            </a:pPr>
            <a:r>
              <a:rPr sz="2400" b="1" lang="ja-JP">
                <a:solidFill>
                  <a:srgbClr val="183542"/>
                </a:solidFill>
                <a:latin typeface="Noto Sans CJK JP"/>
                <a:ea typeface="Noto Sans CJK JP"/>
              </a:rPr>
              <a:t>文字と背景を同じ領域で確認する</a:t>
            </a:r>
          </a:p>
          <a:p>
            <a:pPr eaLnBrk="1" latinLnBrk="0">
              <a:spcAft>
                <a:spcPts val="1200"/>
              </a:spcAft>
            </a:pPr>
            <a:r>
              <a:rPr sz="2400" b="1" lang="ja-JP">
                <a:solidFill>
                  <a:srgbClr val="183542"/>
                </a:solidFill>
                <a:latin typeface="Noto Sans CJK JP"/>
                <a:ea typeface="Noto Sans CJK JP"/>
              </a:rPr>
              <a:t>条件が不明な投影可読性は未確認とする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69848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200" b="0" lang="ja-JP">
                <a:solidFill>
                  <a:srgbClr val="183542"/>
                </a:solidFill>
                <a:latin typeface="Noto Sans CJK JP"/>
                <a:ea typeface="Noto Sans CJK JP"/>
              </a:rPr>
              <a:t>日時・場所・料金は、読者が利用できる位置に残します。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長い取消案内をそのまま保つ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194560"/>
          </a:xfrm>
          <a:prstGeom prst="rect">
            <a:avLst/>
          </a:prstGeom>
          <a:solidFill>
            <a:srgbClr val="E7F1F3"/>
          </a:solidFill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800" b="1" lang="ja-JP">
                <a:solidFill>
                  <a:srgbClr val="183542"/>
                </a:solidFill>
                <a:latin typeface="Noto Sans CJK JP"/>
                <a:ea typeface="Noto Sans CJK JP"/>
              </a:rPr>
              <a:t>2026年度・特別会員向けオンライン講座の受講登録を取り消す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000" b="0" lang="ja-JP">
                <a:solidFill>
                  <a:srgbClr val="183542"/>
                </a:solidFill>
                <a:latin typeface="Noto Sans CJK JP"/>
                <a:ea typeface="Noto Sans CJK JP"/>
              </a:rPr>
              <a:t>図の説明：取消案内の全文を独立した領域に置き、本文と注記の階層を保つ。操作を実行する画面ではありません。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注記と引継ぎの条件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・PDFの抽出一致と画像確認は別の証拠です。</a:t>
            </a:r>
          </a:p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・Officeでの編集、印刷、実会場の投影は未確認です。</a:t>
            </a:r>
          </a:p>
          <a:p>
            <a:pPr eaLnBrk="1" latinLnBrk="0">
              <a:spcAft>
                <a:spcPts val="1200"/>
              </a:spcAft>
            </a:pPr>
            <a:r>
              <a:rPr sz="2400" b="0" lang="ja-JP">
                <a:solidFill>
                  <a:srgbClr val="183542"/>
                </a:solidFill>
                <a:latin typeface="Noto Sans CJK JP"/>
                <a:ea typeface="Noto Sans CJK JP"/>
              </a:rPr>
              <a:t>・架空の講座と会場を利用したQA資料です。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800" b="0" lang="ja-JP">
                <a:solidFill>
                  <a:srgbClr val="087F85"/>
                </a:solidFill>
                <a:latin typeface="Noto Sans CJK JP"/>
                <a:ea typeface="Noto Sans CJK JP"/>
              </a:rPr>
              <a:t>補足：元の文字列と入力JSONを成果物と一緒に保存する。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3000" b="1" lang="ja-JP">
                <a:solidFill>
                  <a:srgbClr val="183542"/>
                </a:solidFill>
                <a:latin typeface="Noto Sans CJK JP"/>
                <a:ea typeface="Noto Sans CJK JP"/>
              </a:rPr>
              <a:t>まとめ：確認した範囲を引き継ぐ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526B75"/>
                </a:solidFill>
                <a:latin typeface="Noto Sans CJK JP"/>
                <a:ea typeface="Noto Sans CJK JP"/>
              </a:rPr>
              <a:t>架空講座／受入QA用資料・実績値ではない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1200" b="0" lang="ja-JP">
                <a:solidFill>
                  <a:srgbClr val="183542"/>
                </a:solidFill>
                <a:latin typeface="Noto Sans CJK JP"/>
                <a:ea typeface="Noto Sans CJK JP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200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700" b="1" lang="ja-JP">
                <a:solidFill>
                  <a:srgbClr val="183542"/>
                </a:solidFill>
                <a:latin typeface="Noto Sans CJK JP"/>
                <a:ea typeface="Noto Sans CJK JP"/>
              </a:rPr>
              <a:t>1. 原稿の文字と数値を変えない</a:t>
            </a:r>
          </a:p>
          <a:p>
            <a:pPr eaLnBrk="1" latinLnBrk="0">
              <a:spcAft>
                <a:spcPts val="1200"/>
              </a:spcAft>
            </a:pPr>
            <a:r>
              <a:rPr sz="2700" b="1" lang="ja-JP">
                <a:solidFill>
                  <a:srgbClr val="183542"/>
                </a:solidFill>
                <a:latin typeface="Noto Sans CJK JP"/>
                <a:ea typeface="Noto Sans CJK JP"/>
              </a:rPr>
              <a:t>2. 全ページ・全スライドを見る</a:t>
            </a:r>
          </a:p>
          <a:p>
            <a:pPr eaLnBrk="1" latinLnBrk="0">
              <a:spcAft>
                <a:spcPts val="1200"/>
              </a:spcAft>
            </a:pPr>
            <a:r>
              <a:rPr sz="2700" b="1" lang="ja-JP">
                <a:solidFill>
                  <a:srgbClr val="183542"/>
                </a:solidFill>
                <a:latin typeface="Noto Sans CJK JP"/>
                <a:ea typeface="Noto Sans CJK JP"/>
              </a:rPr>
              <a:t>3. 未確認の環境を明示する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eaLnBrk="1" latinLnBrk="0">
              <a:spcAft>
                <a:spcPts val="1200"/>
              </a:spcAft>
            </a:pPr>
            <a:r>
              <a:rPr sz="2100" b="0" lang="ja-JP">
                <a:solidFill>
                  <a:srgbClr val="087F85"/>
                </a:solidFill>
                <a:latin typeface="Noto Sans CJK JP"/>
                <a:ea typeface="Noto Sans CJK JP"/>
              </a:rPr>
              <a:t>公開・本番更新にはOwner Gateが必要です。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